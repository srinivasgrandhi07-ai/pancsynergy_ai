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1072865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NEXT-GENERATION CHEMINFORMATICS &amp; COMPUTATIONAL ONCOLOGY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6032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PancSynergy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74903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1F5F9"/>
                </a:solidFill>
              </a:defRPr>
            </a:pPr>
            <a:r>
              <a:t>Machine-Learning-Assisted Screening of Drug-Combination Synergy, Synthesis Reaction Kinetics, and Pharmacodynamic Eradication Dynamics in PANC-1 Pancreatic Cancer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754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Powered by Random Forest Regressor (Test r = 0.8016) • USPTO-50K Chemical Reaction Engine • Continuous PK/PD Hill-Emax Simulator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CLINICAL RATIONALE &amp; UNMET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Clinical Challenge: Pancreatic Cancer &amp; Combination Therapy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77977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Pancreatic Ductal Adenocarcinoma (PDAC)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• Deadliest Major Cancer: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5-year survival rate remains below 11%. Projected to become the 2nd leading cause of cancer death.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• Dense Fibrotic Stroma: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Desmoplastic microenvironment creates extreme interstitial fluid pressure, starving tumors of blood flow.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• KRAS &amp; TP53 Mutations: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Over 90% of PANC-1 tumors carry mutant KRAS (G12D) driving aggressive uncontrolled proliferation.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0016" y="1737360"/>
            <a:ext cx="277977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Why Single-Drug Therapies Fail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• Adaptive Resistance: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Targeting a single kinase (e.g. MEK) triggers rapid compensatory feedback activation of parallel survival loops.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• Severe Chemotoxicity: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Pushing single agents (Gemcitabine, FOLFIRINOX) to cytotoxic thresholds induces dose-limiting toxicity in patients.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• Clonal Heterogeneity: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Pre-existing resistant subclones survive monotherapy, driving rapid patient relapse within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737360"/>
            <a:ext cx="277977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The Combinatorial Bottleneck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• Combinatorial Explosion: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Screening just 1,000 oncology compounds pairwise requires 499,500 combination assays!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• Cost &amp; Time Prohibitive: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8x8 dose-matrix titration in cell culture costs millions of dollars and decades of laboratory time.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• The AI Solution: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PancSynergy AI replaces brute-force screening with instant computational inference in &lt; 200 milliseconds.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COMPUTATIONAL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Platform Solution: The Four Pillars of PancSynergy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1. Drug Synergy Predictor</a:t>
            </a:r>
          </a:p>
          <a:p>
            <a:br/>
            <a:pPr>
              <a:defRPr sz="1150">
                <a:solidFill>
                  <a:srgbClr val="F1F5F9"/>
                </a:solidFill>
              </a:defRPr>
            </a:pPr>
            <a:r>
              <a:t>Predicts continuous Gamma (Γ) synergy scores using an 802-dimensional symmetric representation. Classifies pairs into High Synergy (Γ &lt; 0.5), Moderate (0.5 ≤ Γ &lt; 1.0), Additive, or Antagonistic.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2. Reaction &amp; Kinetics Lab</a:t>
            </a:r>
          </a:p>
          <a:p>
            <a:br/>
            <a:pPr>
              <a:defRPr sz="1150">
                <a:solidFill>
                  <a:srgbClr val="F1F5F9"/>
                </a:solidFill>
              </a:defRPr>
            </a:pPr>
            <a:r>
              <a:t>Classifies synthetic chemical feasibility across 10 USPTO patent transformation classes. Estimates combination time required (2-6h vs 6-16h), temperature, solvents, catalysts, and yield.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3. Cancer Impact Dynamics</a:t>
            </a:r>
          </a:p>
          <a:p>
            <a:br/>
            <a:pPr>
              <a:defRPr sz="1150">
                <a:solidFill>
                  <a:srgbClr val="F1F5F9"/>
                </a:solidFill>
              </a:defRPr>
            </a:pPr>
            <a:r>
              <a:t>Continuous PK/PD simulation mapping in-vitro cancer viability curves over 0-96 hours. Calculates half-maximal eradication time (T50) and apoptotic morphological trigger 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4. High-Throughput Batch Lab</a:t>
            </a:r>
          </a:p>
          <a:p>
            <a:br/>
            <a:pPr>
              <a:defRPr sz="1150">
                <a:solidFill>
                  <a:srgbClr val="F1F5F9"/>
                </a:solidFill>
              </a:defRPr>
            </a:pPr>
            <a:r>
              <a:t>Allows researchers to upload multi-pair CSV matrices. Screens dozens of combinations in seconds with interactive distribution histograms and potency scatter plots.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Engineering: Hygiene, Imputation &amp; Leak-Free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Header &amp; String Sanitization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Status: 100% clean headers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Stripped leading/trailing whitespace, \r\n line breaks, and UTF-8 encoding noise across all compound names, MOAs, and SMILES.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Strict Numerical Typing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Status: Strict float32/int32 types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Forced pd.to_numeric(errors='coerce') on Gamma, Label, and Log AC50. Converted invalid tokens (e.g. '--', 'N/A') into standard NaNs.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2422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3. Target Zero-Tolerance Purge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Status: Zero synthetic targets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Dropped any row with missing target Gamma or empty SMILES strings. Target values were NEVER imputed to eliminate circular data poisoning.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2422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4. Empirical Median Imputation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Status: Preserved rare synergy pairs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Missing monotherapy potencies (Log AC50) were imputed with the dataset median of -6.0 M (1.0 µM NCATS screening standard).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2422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5. RDKit Structure Sanitizer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Status: Chemically verified SMILES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Validated valence, aromaticity, and tetrahedral stereochemistry. Invalid structures yield zeroed vectors rather than fatal exceptions.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572000"/>
            <a:ext cx="52422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6. USPTO-50K Salt Stripping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Status: Noise-free reaction models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Ranked reactants by heavy atom count. Discarded spectator counter-ions (Na+, Cl-) and solvent molecules to isolate organic drug pairs.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MATHEMATICAL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Cheminformatics: Circular Fingerprints &amp; Symmetrization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Single Drug Vector (266 Dims)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1. 256-Bit Morgan Fingerprint (ECFP4)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Circular radius = 2 bonds (diameter 4). Identifies functional binding motifs (hydroxamic acids, kinase heterocycles) folded into 256 bits.</a:t>
            </a:r>
          </a:p>
          <a:p>
            <a:br/>
            <a:pPr>
              <a:defRPr b="1" sz="1200">
                <a:solidFill>
                  <a:srgbClr val="FFFFFF"/>
                </a:solidFill>
              </a:defRPr>
            </a:pPr>
            <a:r>
              <a:t>2. 10 2D Physicochemical Descriptors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• MolWt (Molecular Weight)</a:t>
            </a:r>
            <a:br/>
            <a:r>
              <a:t>• MolLogP (Lipophilicity / solubility)</a:t>
            </a:r>
            <a:br/>
            <a:r>
              <a:t>• TPSA (Polar surface area)</a:t>
            </a:r>
            <a:br/>
            <a:r>
              <a:t>• H-Bond Donors &amp; Acceptors (HBD/HBA)</a:t>
            </a:r>
            <a:br/>
            <a:r>
              <a:t>• Rotatable Bonds (Flexibility)</a:t>
            </a:r>
            <a:br/>
            <a:r>
              <a:t>• Fraction CSP3 (3D complexity)</a:t>
            </a:r>
            <a:br/>
            <a:r>
              <a:t>• Ring Count &amp; Aromatic Rings</a:t>
            </a:r>
            <a:br/>
            <a:r>
              <a:t>• Heavy Atom 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3953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691640"/>
            <a:ext cx="5790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Order-Invariant Symmetrization (802 Dims)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The Permutational Problem: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 biology, Drug A + Drug B is identical to Drug B + Drug A. Concatenating [v_A, v_B] creates order bias and double-counting.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Vector Sum (v_A + v_B) — 266 dims: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Captures the total combined chemical functionalities and molecular bulk.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Absolute Difference |v_A - v_B| — 266 dims: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Captures structural divergence and chemical complementarity between the drugs.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Hadamard Product (v_A ⊙ v_B) — 266 dims: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Captures shared pharmacophore motifs present in both compounds.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Symmetric Potency Vector — 4 dims: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[min(AC50), max(AC50), |AC50_1 - AC50_2|, AC50_1 + AC50_2]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Mathematical Invariance Proof: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f(A, B) ≡ f(B, A) is mathematically guaranteed at the input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MODEL SELECTION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Machine Learning Evaluation: 8-Model Benchmark Leaderboard</a:t>
            </a:r>
          </a:p>
        </p:txBody>
      </p:sp>
      <p:pic>
        <p:nvPicPr>
          <p:cNvPr id="4" name="Picture 3" descr="ml_evaluation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63040"/>
            <a:ext cx="396209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645920"/>
            <a:ext cx="35963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Benchmark Leaderboard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🏆 Random Forest: r = 0.8016 | R² = 0.5710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2. Gradient Boosting: r = 0.7913 | R² = 0.6015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3. Hist Gradient Boosting: r = 0.7833 | R² = 0.5991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4. Lasso Regression: r = 0.7723 | R² = 0.4756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5. ElasticNet: r = 0.7615 | R² = 0.5259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6. Extra Trees: r = 0.7481 | R² = 0.5344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7. Ridge Regression: r = 0.5611 | R² = 0.1576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8. Deep MLP Neural Net: r = 0.4074 | R² = -0.1413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5836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Empirical Finding: Why Random Forest Won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With N = 498 samples and 802 features, Deep MLP suffered from over-parameterization. Random Forest, through bootstrap bagging and m = sqrt(802) ≈ 28 randomized feature sampling, constrained tree variance while capturing non-linear biological thresholds.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EXPERIMENTAL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Biological Findings: Epigenetic &amp; Proteasome Synthetic Lethality</a:t>
            </a:r>
          </a:p>
        </p:txBody>
      </p:sp>
      <p:pic>
        <p:nvPicPr>
          <p:cNvPr id="4" name="Picture 3" descr="top_synergies_and_mechan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63040"/>
            <a:ext cx="368777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691640"/>
            <a:ext cx="32305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Top Synergy Mechanisms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HDACi + Proteasome Inhibitors: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Panobinostat + Carfilzomib (Γ = 0.0414) and Oprozomib + Panobinostat produce severe proteotoxic crisis overloading ubiquitinated protein clearance.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Survivin Inhibition: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Trichostatin A + Sepantronium bromide disables the cellular anti-apoptotic shield.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Antifolate + NAMPT Blockade: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Pralatrexate + Daporinad starves PANC-1 cells simultaneously of purines and NAD+ energy.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Prevalent Target Classes: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Proteasome inhibitors (&gt;110 occurrences), PLK-1, HDAC inhibitors, and Mutant p53 activators represent 70% of all synergistic hits.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8580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6492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Validation Significance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The model accurately identified that epigenetic chromatin remodeling (HDAC inhibition) relaxes transcription factors, exposing pancreatic cancer DNA to crosslinkers and sensitizing cells to proteasome-mediated apoptosis.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MEDICINAL SYNTHESIS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Chemical Synthesis Lab: USPTO-50K Reaction Pathways &amp; Kinetics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Synthetic Feasibility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Beyond Synergy: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Oncologists need to know if two drugs can be linked into an antibody-drug conjugate (ADC) or covalent bispecific.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Chemical Incompatibility: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Prevents accidental degradation or precipitation when mixing drugs in infusion bags.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USPTO-50K Dataset: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Trained on 50,000+ patented chemical reactions across 10 standardized transformation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HistGradientBoosting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1,571 Features: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512-bit Morgan fingerprints + 7 physicochemical descriptors per reactant symmetrized: [sum, diff, product].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Histogram Binning: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Discretizes 1,571 continuous features into 255 integer bins, accelerating gradient splits by 20x.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Multi-Class Cross Entropy: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Outputs softmax probabilities across all 10 synthetic organic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Kinetic Predictions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Combination Time: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Predicts reaction duration: 2-6 hours (Amide Coupling) vs 6-16 hours (Suzuki cross-coupling).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Optimal Temperature: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Specifies kinetic window: 0-25 °C (ambient) vs 70-110 °C reflux.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Solvent &amp; Catalysts: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Recommends DCM/DMF with HATU/DIPEA for acylation; Dioxane/Pd(dppf)Cl2 for C-C couplings.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Isolated Yield Range: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Expected yield: 80 - 95%.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PHARMACODYNAMIC TIME-COURSE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Cancer Impact Dynamics: Continuous PK/PD Kill Engine &amp; T50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Dynamic PK/PD Mathematical Equations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1. Potency Shift: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Δ_i = -(Log AC50_i - (-6.0 M))</a:t>
            </a:r>
            <a:br/>
            <a:r>
              <a:t>High potency (-8.0 M) yields Δ = +2.0 (faster target engagement).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2. Single-Agent Rate Constant: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k_i = clamp(0.018 × 1.35^(Δ_i) × DoseMultiplier, 0.008, 0.065) h⁻¹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3. Continuous Synergy Multiplier: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 = clamp((1.0 / γ)^0.92, 0.35, 3.80)</a:t>
            </a:r>
            <a:br/>
            <a:r>
              <a:t>Synergy (γ = 0.38) speeds up kill by 2.45×; Antagonism (γ = 1.68) slows to 0.62×.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4. Combined Kill Velocity: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k_combo = (k_A + k_B) × S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5. Half-Maximal Eradication Time (T50):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T50 = ln(2) / k_combo ≈ 0.69315 / k_combo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Biological Phases on the 0-96h Time Scrubber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0 - 6 Hours (Phase I: Target Engagement):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Drug enters plasma membrane; G1/S cell cycle arrest begins; priming of Caspase-8/9.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6 - 18 Hours (Phase II: Mitochondrial Collapse):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Loss of mitochondrial outer membrane potential (MOMP); release of Cytochrome C (T25 milestone reached).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18 - 36 Hours (Phase III: Executioner Caspases):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Massive cleavage of Caspase-3/7 and PARP-1. Severe nuclear DNA fragmentation (T50 milestone reached).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36 - 72 Hours (Phase IV: Apoptotic Lysis):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&gt; 90% of PANC-1 tumor cells eliminated; complete loss of membrane integrity and phagocytic clearance.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72 - 96 Hours (Phase V: Resistance Prevention):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Synergistic pressure permanently prevents surviving resistant clones from repopulating.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End-to-End Enterprise Cloud Blueprint</a:t>
            </a:r>
          </a:p>
        </p:txBody>
      </p:sp>
      <p:pic>
        <p:nvPicPr>
          <p:cNvPr id="4" name="Picture 3" descr="demo_reference_cloud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463040"/>
            <a:ext cx="542513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Enterprise Architecture Mapping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Client Tier (React 18 + Vite SPA):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Single-page dashboard with Tailwind CSS and Recharts; responsive sub-second page transitions.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API Gateway (FastAPI • Port 8081):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Asynchronous ASGI backend with Pydantic v2 validation, CORS middleware, and automated OpenAPI/Swagger docs.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Inference Engine (RDKit + Scikit-Learn):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Pre-loaded in-memory Random Forest and HistGradientBoosting models executing inference in &lt; 200ms.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Data &amp; Model Tier: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Storage containers holding .pkl models, NCATS matrix datasets, and 51+ curated oncology compounds.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Deployment Slots (Staging ➔ Production):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Enables zero-downtime blue/green deployment when promoting newly trained models.</a:t>
            </a:r>
          </a:p>
          <a:p>
            <a:br/>
            <a:pPr>
              <a:defRPr b="1" sz="1100">
                <a:solidFill>
                  <a:srgbClr val="FFFFFF"/>
                </a:solidFill>
              </a:defRPr>
            </a:pPr>
            <a:r>
              <a:t>• GitHub CI/CD Automation: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Automated deployment directly from srinivasgrandhi07-ai/pancsynergy_ai.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PLATFORM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Demonstration: High-Throughput Batch Screening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Demonstration Workflow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Step 1: Upload CSV Matrix: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Upload demo_batch_screening.csv (contains 10 curated oncology combinations) directly into the web UI.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Step 2: Instant Client Validation: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PapaParse validates SMILES lengths and headers; displays an interactive 10/10 green checkmark table.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Step 3: High-Throughput Inference: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Queries POST /api/v1/predict/batch; evaluates all 802-dimensional vectors in parallel in &lt; 0.3s.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Step 4: Interactive Visualizations: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Renders dynamic Gamma histogram, potency-vs-synergy scatter plot, and ranked table.</a:t>
            </a:r>
          </a:p>
          <a:p>
            <a:br/>
            <a:pPr>
              <a:defRPr b="1" sz="1150">
                <a:solidFill>
                  <a:srgbClr val="FFFFFF"/>
                </a:solidFill>
              </a:defRPr>
            </a:pPr>
            <a:r>
              <a:t>• Step 5: One-Click Export: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Exports enriched results with predicted Gamma, synergy classification, and strength tags back to CSV.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42513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Verified Results in demo_batch_screening.csv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• Panobinostat + Carfilzomib ➔ Γ = 0.3278 (High Synergy)</a:t>
            </a:r>
          </a:p>
          <a:p>
            <a:pPr>
              <a:defRPr sz="1050">
                <a:solidFill>
                  <a:srgbClr val="0D9488"/>
                </a:solidFill>
              </a:defRPr>
            </a:pPr>
            <a:r>
              <a:t>• Pralatrexate + Daporinad ➔ Γ = 0.9872 (Moderate Synergy)</a:t>
            </a:r>
          </a:p>
          <a:p>
            <a:pPr>
              <a:defRPr sz="1050">
                <a:solidFill>
                  <a:srgbClr val="10B981"/>
                </a:solidFill>
              </a:defRPr>
            </a:pPr>
            <a:r>
              <a:t>• Oprozomib + Panobinostat ➔ Γ = 0.4386 (High Synergy)</a:t>
            </a:r>
          </a:p>
          <a:p>
            <a:pPr>
              <a:defRPr sz="1050">
                <a:solidFill>
                  <a:srgbClr val="0D9488"/>
                </a:solidFill>
              </a:defRPr>
            </a:pPr>
            <a:r>
              <a:t>• Sepantronium + Daporinad ➔ Γ = 0.9755 (Moderate Synergy)</a:t>
            </a:r>
          </a:p>
          <a:p>
            <a:pPr>
              <a:defRPr sz="1050">
                <a:solidFill>
                  <a:srgbClr val="0D9488"/>
                </a:solidFill>
              </a:defRPr>
            </a:pPr>
            <a:r>
              <a:t>• GMX-1778 + Daporinad ➔ Γ = 0.7757 (Moderate Synergy)</a:t>
            </a:r>
          </a:p>
          <a:p>
            <a:pPr>
              <a:defRPr sz="1050">
                <a:solidFill>
                  <a:srgbClr val="0D9488"/>
                </a:solidFill>
              </a:defRPr>
            </a:pPr>
            <a:r>
              <a:t>• Gemcitabine + Cisplatin ➔ Γ = 0.9631 (Moderate Synergy)</a:t>
            </a:r>
          </a:p>
          <a:p>
            <a:pPr>
              <a:defRPr sz="1050">
                <a:solidFill>
                  <a:srgbClr val="0D9488"/>
                </a:solidFill>
              </a:defRPr>
            </a:pPr>
            <a:r>
              <a:t>• Paclitaxel + Vorinostat ➔ Γ = 0.9635 (Moderate Synergy)</a:t>
            </a:r>
          </a:p>
          <a:p>
            <a:pPr>
              <a:defRPr sz="1050">
                <a:solidFill>
                  <a:srgbClr val="F59E0B"/>
                </a:solidFill>
              </a:defRPr>
            </a:pPr>
            <a:r>
              <a:t>• Irinotecan + 5-FU ➔ Γ = 1.0301 (Additive / Weak)</a:t>
            </a:r>
          </a:p>
          <a:p>
            <a:pPr>
              <a:defRPr sz="1050">
                <a:solidFill>
                  <a:srgbClr val="0D9488"/>
                </a:solidFill>
              </a:defRPr>
            </a:pPr>
            <a:r>
              <a:t>• Methotrexate + Aminopterin ➔ Γ = 0.8645 (Moderate Synergy)</a:t>
            </a:r>
          </a:p>
          <a:p>
            <a:pPr>
              <a:defRPr sz="1050">
                <a:solidFill>
                  <a:srgbClr val="0D9488"/>
                </a:solidFill>
              </a:defRPr>
            </a:pPr>
            <a:r>
              <a:t>• Parogrelil + Osanetant ➔ Γ = 0.9713 (Moderate Synergy)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Horizons: From In-Silico Prediction to Clinical Translation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Patient Multi-Omics Integration</a:t>
            </a:r>
          </a:p>
          <a:p>
            <a:br/>
            <a:pPr>
              <a:defRPr sz="1150">
                <a:solidFill>
                  <a:srgbClr val="F1F5F9"/>
                </a:solidFill>
              </a:defRPr>
            </a:pPr>
            <a:r>
              <a:t>Incorporate patient-specific RNA-seq transcriptomics and specific KRAS allele mutations (G12D vs G12V vs G12R) to personalize synergy predictions for individual patients.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In-Vivo PDX Translation</a:t>
            </a:r>
          </a:p>
          <a:p>
            <a:br/>
            <a:pPr>
              <a:defRPr sz="1150">
                <a:solidFill>
                  <a:srgbClr val="F1F5F9"/>
                </a:solidFill>
              </a:defRPr>
            </a:pPr>
            <a:r>
              <a:t>Validate top computational hits (Panobinostat + Carfilzomib) in patient-derived xenograft (PDX) mouse models to establish in-vivo tumor regression and toxicity thresholds.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Automated Robotic Synthesis</a:t>
            </a:r>
          </a:p>
          <a:p>
            <a:br/>
            <a:pPr>
              <a:defRPr sz="1150">
                <a:solidFill>
                  <a:srgbClr val="F1F5F9"/>
                </a:solidFill>
              </a:defRPr>
            </a:pPr>
            <a:r>
              <a:t>Connect the USPTO-50K synthesis engine directly to automated flow-chemistry robotic synthesizers for continuous compound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Open Science &amp; API Ecosystem</a:t>
            </a:r>
          </a:p>
          <a:p>
            <a:br/>
            <a:pPr>
              <a:defRPr sz="1150">
                <a:solidFill>
                  <a:srgbClr val="F1F5F9"/>
                </a:solidFill>
              </a:defRPr>
            </a:pPr>
            <a:r>
              <a:t>Publish the trained model weights and RESTful endpoints for integration into academic hospital computational oncology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